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4008"/>
            <a:ext cx="12161520" cy="42062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64008"/>
            <a:ext cx="12161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Document Parser — Architecture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365760" y="484632"/>
            <a:ext cx="11430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4434840" y="585216"/>
            <a:ext cx="3291840" cy="420624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434840" y="585216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Upload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6080760" y="1005840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6057900" y="1097280"/>
            <a:ext cx="45720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434840" y="1124712"/>
            <a:ext cx="3291840" cy="420624"/>
          </a:xfrm>
          <a:prstGeom prst="rect">
            <a:avLst/>
          </a:prstGeom>
          <a:solidFill>
            <a:srgbClr val="2A4A7F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434840" y="112471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 Detection + Pre-validation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MIME type   •   encryption check   •   corruption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6080760" y="1545336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6057900" y="1636776"/>
            <a:ext cx="45720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434840" y="1664208"/>
            <a:ext cx="3291840" cy="420624"/>
          </a:xfrm>
          <a:prstGeom prst="rect">
            <a:avLst/>
          </a:prstGeom>
          <a:solidFill>
            <a:srgbClr val="2C5282"/>
          </a:solidFill>
          <a:ln cap="flat" cmpd="sng" w="9525">
            <a:solidFill>
              <a:srgbClr val="2C528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434840" y="1664208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Router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born-digital PDF?   •   scanned?   •   hybrid?   •   native format?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6080760" y="2084832"/>
            <a:ext cx="0" cy="155448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/>
          <p:nvPr/>
        </p:nvSpPr>
        <p:spPr>
          <a:xfrm>
            <a:off x="6057900" y="2212848"/>
            <a:ext cx="45720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3"/>
          <p:cNvCxnSpPr/>
          <p:nvPr/>
        </p:nvCxnSpPr>
        <p:spPr>
          <a:xfrm>
            <a:off x="2514600" y="2240280"/>
            <a:ext cx="713232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2514600" y="2240280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2491740" y="2331720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" name="Google Shape;35;p3"/>
          <p:cNvCxnSpPr/>
          <p:nvPr/>
        </p:nvCxnSpPr>
        <p:spPr>
          <a:xfrm>
            <a:off x="9646920" y="2240280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3"/>
          <p:cNvSpPr/>
          <p:nvPr/>
        </p:nvSpPr>
        <p:spPr>
          <a:xfrm>
            <a:off x="9624060" y="2331720"/>
            <a:ext cx="457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960120" y="2249424"/>
            <a:ext cx="31089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600"/>
              <a:buFont typeface="Calibri"/>
              <a:buNone/>
            </a:pPr>
            <a:r>
              <a:rPr b="1" i="0" lang="en-US" sz="11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VISUAL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8092440" y="2249424"/>
            <a:ext cx="31089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STRUCTURED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960120" y="2359152"/>
            <a:ext cx="3108960" cy="54864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60120" y="2414016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960120" y="2414016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Page Renderer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pdf2image   •   pdfplumber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2514600" y="2752344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3"/>
          <p:cNvSpPr/>
          <p:nvPr/>
        </p:nvSpPr>
        <p:spPr>
          <a:xfrm>
            <a:off x="2491740" y="2825496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960120" y="2852928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960120" y="2852928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deskew   •   denoise   •   binarize   •   contrast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2514600" y="3191256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"/>
          <p:cNvSpPr/>
          <p:nvPr/>
        </p:nvSpPr>
        <p:spPr>
          <a:xfrm>
            <a:off x="2491740" y="3264408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60120" y="3291840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960120" y="3291840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Layout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DocLayNet   •   YOLO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2514600" y="3630168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2491740" y="3703320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960120" y="3730752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960120" y="3730752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Region Segmentation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 blocks   •   tables   •   figures   •   headers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2514600" y="4069080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2491740" y="4142232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960120" y="4169664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60120" y="4169664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OCR per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PaddleOCR   •   Surya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2514600" y="4507992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2491740" y="4581144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60120" y="4608576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960120" y="4608576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Specialized Extractors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   •   figures   •   formulas   •   captions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2514600" y="4946904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2491740" y="5020056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960120" y="5047488"/>
            <a:ext cx="3108960" cy="33832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60120" y="5047488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Reading Order Reconstruction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XY-cut   •   ML-based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092440" y="2359152"/>
            <a:ext cx="310896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092440" y="2414016"/>
            <a:ext cx="3108960" cy="338328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092440" y="2414016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Native Parser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python-docx   •   openpyxl   •   python-pptx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9646920" y="2752344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3"/>
          <p:cNvSpPr/>
          <p:nvPr/>
        </p:nvSpPr>
        <p:spPr>
          <a:xfrm>
            <a:off x="9624060" y="2825496"/>
            <a:ext cx="457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092440" y="2852928"/>
            <a:ext cx="3108960" cy="338328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092440" y="2852928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Style &amp; Relationship Resolution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headings   •   embedded images   •   footnotes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9646920" y="3191256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3"/>
          <p:cNvSpPr/>
          <p:nvPr/>
        </p:nvSpPr>
        <p:spPr>
          <a:xfrm>
            <a:off x="9624060" y="3264408"/>
            <a:ext cx="457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092440" y="3291840"/>
            <a:ext cx="3108960" cy="338328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092440" y="3291840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Structure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headings   •   tables   •   lists   •   slides   •   sheets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9646920" y="3630168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9624060" y="3703320"/>
            <a:ext cx="457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092440" y="3730752"/>
            <a:ext cx="3108960" cy="338328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092440" y="3730752"/>
            <a:ext cx="31089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Object Normalization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type mapping   •   schema enforcement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>
            <a:stCxn id="65" idx="2"/>
          </p:cNvCxnSpPr>
          <p:nvPr/>
        </p:nvCxnSpPr>
        <p:spPr>
          <a:xfrm>
            <a:off x="2514600" y="5385816"/>
            <a:ext cx="0" cy="475500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2491740" y="5833872"/>
            <a:ext cx="457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3"/>
          <p:cNvCxnSpPr/>
          <p:nvPr/>
        </p:nvCxnSpPr>
        <p:spPr>
          <a:xfrm>
            <a:off x="9646920" y="4407408"/>
            <a:ext cx="0" cy="1453896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9624060" y="5833872"/>
            <a:ext cx="457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3"/>
          <p:cNvCxnSpPr/>
          <p:nvPr/>
        </p:nvCxnSpPr>
        <p:spPr>
          <a:xfrm>
            <a:off x="2514600" y="5861304"/>
            <a:ext cx="713232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6080760" y="5861304"/>
            <a:ext cx="0" cy="128016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6057900" y="5961888"/>
            <a:ext cx="4572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65760" y="5989320"/>
            <a:ext cx="2154326" cy="54864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65760" y="5989320"/>
            <a:ext cx="215432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Document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{blocks: [{type, content, bbox, confidence}]}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2520086" y="6263640"/>
            <a:ext cx="16459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2661818" y="6240780"/>
            <a:ext cx="4572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684678" y="5989320"/>
            <a:ext cx="2154326" cy="548640"/>
          </a:xfrm>
          <a:prstGeom prst="rect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684678" y="5989320"/>
            <a:ext cx="215432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Gate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confidence scoring   •   fallback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4839005" y="6263640"/>
            <a:ext cx="16459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4980737" y="6240780"/>
            <a:ext cx="4572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003597" y="5989320"/>
            <a:ext cx="2154326" cy="548640"/>
          </a:xfrm>
          <a:prstGeom prst="rect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003597" y="5989320"/>
            <a:ext cx="215432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50"/>
              <a:buFont typeface="Calibri"/>
              <a:buNone/>
            </a:pPr>
            <a:r>
              <a:rPr b="0" i="0" lang="en-US" sz="105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metadata   •   cross-refs   •  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7157923" y="6263640"/>
            <a:ext cx="16459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7299655" y="6240780"/>
            <a:ext cx="4572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322515" y="5989320"/>
            <a:ext cx="2154326" cy="548640"/>
          </a:xfrm>
          <a:prstGeom prst="rect">
            <a:avLst/>
          </a:prstGeom>
          <a:solidFill>
            <a:srgbClr val="065F46"/>
          </a:solidFill>
          <a:ln cap="flat" cmpd="sng" w="9525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322515" y="5989320"/>
            <a:ext cx="215432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50"/>
              <a:buFont typeface="Calibri"/>
              <a:buNone/>
            </a:pPr>
            <a:r>
              <a:rPr b="0" i="0" lang="en-US" sz="115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JSON   •   Markdown   •   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>
            <a:off x="9476842" y="6263640"/>
            <a:ext cx="16459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3"/>
          <p:cNvSpPr/>
          <p:nvPr/>
        </p:nvSpPr>
        <p:spPr>
          <a:xfrm>
            <a:off x="9618574" y="6240780"/>
            <a:ext cx="4572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641434" y="5989320"/>
            <a:ext cx="2154326" cy="54864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641434" y="5989320"/>
            <a:ext cx="215432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50"/>
              <a:buFont typeface="Calibri"/>
              <a:buNone/>
            </a:pPr>
            <a:r>
              <a:rPr b="0" i="0" lang="en-US" sz="95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semantic   •   fixed   •   structure-aware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365760" y="6720840"/>
            <a:ext cx="114300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/>
          <p:nvPr/>
        </p:nvSpPr>
        <p:spPr>
          <a:xfrm>
            <a:off x="365760" y="6739128"/>
            <a:ext cx="114300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