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4008"/>
            <a:ext cx="12161520" cy="39319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64008"/>
            <a:ext cx="12161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Document Parser — Architecture Overview  (with VLM / Agentic OCR)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365760" y="457200"/>
            <a:ext cx="11430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9966960" y="502920"/>
            <a:ext cx="1828800" cy="256032"/>
          </a:xfrm>
          <a:prstGeom prst="rect">
            <a:avLst/>
          </a:prstGeom>
          <a:solidFill>
            <a:srgbClr val="F3E8FF"/>
          </a:solidFill>
          <a:ln cap="flat" cmpd="sng" w="101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966960" y="5029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  VLM / AI Blocks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480560" y="530352"/>
            <a:ext cx="3200400" cy="374904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480560" y="530352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Upload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80760" y="905256"/>
            <a:ext cx="0" cy="109728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4480560" y="1014984"/>
            <a:ext cx="3200400" cy="374904"/>
          </a:xfrm>
          <a:prstGeom prst="rect">
            <a:avLst/>
          </a:prstGeom>
          <a:solidFill>
            <a:srgbClr val="2A4A7F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480560" y="1014984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 Detection + Pre-validation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MIME type  •  encryption check  •  corruption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6080760" y="1389888"/>
            <a:ext cx="0" cy="109728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4480560" y="1499616"/>
            <a:ext cx="3200400" cy="374904"/>
          </a:xfrm>
          <a:prstGeom prst="rect">
            <a:avLst/>
          </a:prstGeom>
          <a:solidFill>
            <a:srgbClr val="2C5282"/>
          </a:solidFill>
          <a:ln cap="flat" cmpd="sng" w="9525">
            <a:solidFill>
              <a:srgbClr val="2C528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480560" y="1499616"/>
            <a:ext cx="32004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Router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born-digital PDF?  •  scanned?  •  hybrid?  •  native format?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6080760" y="1874520"/>
            <a:ext cx="0" cy="146304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2125980" y="2020824"/>
            <a:ext cx="79095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2125980" y="2020824"/>
            <a:ext cx="0" cy="109728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10035540" y="2020824"/>
            <a:ext cx="0" cy="109728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502920" y="2029968"/>
            <a:ext cx="3246120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VISUAL PIPELINE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412480" y="2029968"/>
            <a:ext cx="3246120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STRUCTURED PIPELINE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02920" y="2130552"/>
            <a:ext cx="3246120" cy="50292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02920" y="2180844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02920" y="21808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Page Renderer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pdf2image  •  pdfplumber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3"/>
          <p:cNvCxnSpPr/>
          <p:nvPr/>
        </p:nvCxnSpPr>
        <p:spPr>
          <a:xfrm>
            <a:off x="2125980" y="2455164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"/>
          <p:cNvSpPr/>
          <p:nvPr/>
        </p:nvSpPr>
        <p:spPr>
          <a:xfrm>
            <a:off x="502920" y="2532888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02920" y="25328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deskew  •  denoise  •  binarize  •  contrast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2125980" y="2807208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3"/>
          <p:cNvSpPr/>
          <p:nvPr/>
        </p:nvSpPr>
        <p:spPr>
          <a:xfrm>
            <a:off x="502920" y="2884932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02920" y="288493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Layout 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DocLayNet  •  YOLO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2125980" y="3159252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502920" y="3236976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02920" y="323697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Region Segmentation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 blocks  •  tables  •  figures  •  headers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2125980" y="3511296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502920" y="3589020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02920" y="35890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OCR per Region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PaddleOCR  •  Surya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2125980" y="3863340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502920" y="3941064"/>
            <a:ext cx="3246120" cy="274320"/>
          </a:xfrm>
          <a:prstGeom prst="rect">
            <a:avLst/>
          </a:prstGeom>
          <a:solidFill>
            <a:srgbClr val="F3E8FF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02920" y="394106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008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4B0082"/>
                </a:solidFill>
                <a:latin typeface="Calibri"/>
                <a:ea typeface="Calibri"/>
                <a:cs typeface="Calibri"/>
                <a:sym typeface="Calibri"/>
              </a:rPr>
              <a:t>VLM Region Review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GPT-4o Vision  •  Gemini Flash  •  InternVL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182112" y="3959352"/>
            <a:ext cx="530352" cy="1371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182112" y="3959352"/>
            <a:ext cx="5303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2125980" y="4215384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502920" y="4293108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02920" y="42931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Specialized Extractors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  •  figures  •  formulas  •  captions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2125980" y="4567428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502920" y="4645152"/>
            <a:ext cx="3246120" cy="274320"/>
          </a:xfrm>
          <a:prstGeom prst="rect">
            <a:avLst/>
          </a:prstGeom>
          <a:solidFill>
            <a:srgbClr val="F3E8FF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02920" y="464515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008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4B0082"/>
                </a:solidFill>
                <a:latin typeface="Calibri"/>
                <a:ea typeface="Calibri"/>
                <a:cs typeface="Calibri"/>
                <a:sym typeface="Calibri"/>
              </a:rPr>
              <a:t>VLM Validation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cross-check extraction vs. page image  •  correct misreads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182112" y="4663440"/>
            <a:ext cx="530352" cy="1371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182112" y="4663440"/>
            <a:ext cx="5303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2125980" y="4919472"/>
            <a:ext cx="0" cy="7772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502920" y="4997196"/>
            <a:ext cx="3246120" cy="274320"/>
          </a:xfrm>
          <a:prstGeom prst="rect">
            <a:avLst/>
          </a:prstGeom>
          <a:solidFill>
            <a:srgbClr val="EBF5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02920" y="499719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Reading Order Reconstruction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XY-cut  •  ML-based  •  VLM fallback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412480" y="2130552"/>
            <a:ext cx="3246120" cy="502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412480" y="2180844"/>
            <a:ext cx="3246120" cy="501091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412480" y="2180844"/>
            <a:ext cx="3246120" cy="501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Native Parser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python-docx  •  openpyxl  •  python-pptx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3"/>
          <p:cNvCxnSpPr/>
          <p:nvPr/>
        </p:nvCxnSpPr>
        <p:spPr>
          <a:xfrm>
            <a:off x="10035540" y="2681935"/>
            <a:ext cx="0" cy="14630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>
            <a:off x="8412480" y="2828239"/>
            <a:ext cx="3246120" cy="501091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412480" y="2828239"/>
            <a:ext cx="3246120" cy="501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Style &amp; Relationship Resolution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headings  •  embedded images  •  footnotes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10035540" y="3329330"/>
            <a:ext cx="0" cy="14630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3"/>
          <p:cNvSpPr/>
          <p:nvPr/>
        </p:nvSpPr>
        <p:spPr>
          <a:xfrm>
            <a:off x="8412480" y="3475634"/>
            <a:ext cx="3246120" cy="501091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412480" y="3475634"/>
            <a:ext cx="3246120" cy="501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Structure Extraction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headings  •  tables  •  lists  •  slides  •  sheets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10035540" y="3976726"/>
            <a:ext cx="0" cy="146304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8412480" y="4123030"/>
            <a:ext cx="3246120" cy="501091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412480" y="4123030"/>
            <a:ext cx="3246120" cy="501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Object Normalization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type mapping  •  schema enforcement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10035540" y="4624121"/>
            <a:ext cx="0" cy="14630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8412480" y="4770425"/>
            <a:ext cx="3246120" cy="501091"/>
          </a:xfrm>
          <a:prstGeom prst="rect">
            <a:avLst/>
          </a:prstGeom>
          <a:solidFill>
            <a:srgbClr val="F3E8FF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412480" y="4770425"/>
            <a:ext cx="3246120" cy="501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008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4B0082"/>
                </a:solidFill>
                <a:latin typeface="Calibri"/>
                <a:ea typeface="Calibri"/>
                <a:cs typeface="Calibri"/>
                <a:sym typeface="Calibri"/>
              </a:rPr>
              <a:t>VLM Semantic Enrichment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caption generation  •  chart description  •  image alt-text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091672" y="4788713"/>
            <a:ext cx="530352" cy="1371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1091672" y="4788713"/>
            <a:ext cx="5303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>
            <a:stCxn id="66" idx="2"/>
          </p:cNvCxnSpPr>
          <p:nvPr/>
        </p:nvCxnSpPr>
        <p:spPr>
          <a:xfrm>
            <a:off x="2125980" y="5271516"/>
            <a:ext cx="0" cy="620100"/>
          </a:xfrm>
          <a:prstGeom prst="straightConnector1">
            <a:avLst/>
          </a:prstGeom>
          <a:noFill/>
          <a:ln cap="flat" cmpd="sng" w="152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10035540" y="5772607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2125980" y="5891479"/>
            <a:ext cx="79095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>
            <a:off x="6080760" y="5891479"/>
            <a:ext cx="0" cy="118872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365760" y="6010351"/>
            <a:ext cx="2176272" cy="512064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65760" y="6010351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Document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{blocks: [{type, content, bbox, confidence}]}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2542032" y="6266383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2679192" y="6010351"/>
            <a:ext cx="2176272" cy="512064"/>
          </a:xfrm>
          <a:prstGeom prst="rect">
            <a:avLst/>
          </a:prstGeom>
          <a:solidFill>
            <a:srgbClr val="6D28D9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679192" y="6010351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OCR Loop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multi-pass  •  auto-retry  •  ensemble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288536" y="6037783"/>
            <a:ext cx="530352" cy="137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288536" y="6037783"/>
            <a:ext cx="5303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50"/>
              <a:buFont typeface="Calibri"/>
              <a:buNone/>
            </a:pPr>
            <a:r>
              <a:rPr b="1" i="0" lang="en-US" sz="5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4855464" y="6266383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/>
          <p:nvPr/>
        </p:nvSpPr>
        <p:spPr>
          <a:xfrm>
            <a:off x="4992624" y="6010351"/>
            <a:ext cx="2176272" cy="512064"/>
          </a:xfrm>
          <a:prstGeom prst="rect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992624" y="6010351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Processing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metadata  •  cross-refs  •  language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7168896" y="6266383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7306056" y="6010351"/>
            <a:ext cx="2176272" cy="512064"/>
          </a:xfrm>
          <a:prstGeom prst="rect">
            <a:avLst/>
          </a:prstGeom>
          <a:solidFill>
            <a:srgbClr val="065F46"/>
          </a:solidFill>
          <a:ln cap="flat" cmpd="sng" w="9525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306056" y="6010351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 + BBox Citations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JSON  •  Markdown  •  chunk-level coords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9482328" y="6266383"/>
            <a:ext cx="137160" cy="0"/>
          </a:xfrm>
          <a:prstGeom prst="straightConnector1">
            <a:avLst/>
          </a:prstGeom>
          <a:noFill/>
          <a:ln cap="flat" cmpd="sng" w="152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/>
          <p:nvPr/>
        </p:nvSpPr>
        <p:spPr>
          <a:xfrm>
            <a:off x="9619488" y="6010351"/>
            <a:ext cx="2176272" cy="512064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619488" y="6010351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Chunking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C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9DB4CC"/>
                </a:solidFill>
                <a:latin typeface="Calibri"/>
                <a:ea typeface="Calibri"/>
                <a:cs typeface="Calibri"/>
                <a:sym typeface="Calibri"/>
              </a:rPr>
              <a:t>semantic  •  fixed  •  structure-aware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2606040" y="6010351"/>
            <a:ext cx="0" cy="512064"/>
          </a:xfrm>
          <a:prstGeom prst="straightConnector1">
            <a:avLst/>
          </a:prstGeom>
          <a:noFill/>
          <a:ln cap="flat" cmpd="sng" w="12700">
            <a:solidFill>
              <a:srgbClr val="A855F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5" name="Google Shape;105;p3"/>
          <p:cNvCxnSpPr/>
          <p:nvPr/>
        </p:nvCxnSpPr>
        <p:spPr>
          <a:xfrm>
            <a:off x="2606040" y="5909767"/>
            <a:ext cx="1161288" cy="0"/>
          </a:xfrm>
          <a:prstGeom prst="straightConnector1">
            <a:avLst/>
          </a:prstGeom>
          <a:noFill/>
          <a:ln cap="flat" cmpd="sng" w="12700">
            <a:solidFill>
              <a:srgbClr val="A855F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6" name="Google Shape;106;p3"/>
          <p:cNvCxnSpPr/>
          <p:nvPr/>
        </p:nvCxnSpPr>
        <p:spPr>
          <a:xfrm>
            <a:off x="3767328" y="5909767"/>
            <a:ext cx="0" cy="100584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/>
          <p:nvPr/>
        </p:nvSpPr>
        <p:spPr>
          <a:xfrm>
            <a:off x="2075688" y="5896051"/>
            <a:ext cx="502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550"/>
              <a:buFont typeface="Calibri"/>
              <a:buNone/>
            </a:pPr>
            <a:r>
              <a:rPr b="0" i="1" lang="en-US" sz="55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retry loop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365760" y="6729984"/>
            <a:ext cx="114300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